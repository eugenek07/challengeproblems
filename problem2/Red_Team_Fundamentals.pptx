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6.jpeg" ContentType="image/jpeg"/>
  <Override PartName="/ppt/media/image11.jpeg" ContentType="image/jpeg"/>
  <Override PartName="/ppt/media/image7.jpeg" ContentType="image/jpeg"/>
  <Override PartName="/ppt/media/image10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A2E3D-835C-4FE8-B31A-8B79AAD55D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9BBA5-2FB7-471D-911F-39D1BE5343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3C971-33F5-458A-A8EB-4F7884A31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7F2FDA-265E-4E83-BBD4-90EDD5FC96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397838-9B1C-4E00-9D5F-318EC86538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1154880" y="973800"/>
            <a:ext cx="8760960" cy="327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9B10F-1197-4BD6-932B-5F9E63A4AD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E7B3F-A348-4B8D-9502-903E34707B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86938-FE03-4295-8B9E-A41D6CA6C6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FCF3AA-E297-4FD5-B44E-8905B05516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537FA-38B8-4334-A4C4-F8A91DF30F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E44451-81E4-4FF8-B6C6-47E5966342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13892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712260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/>
          </p:nvPr>
        </p:nvSpPr>
        <p:spPr>
          <a:xfrm>
            <a:off x="115488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/>
          </p:nvPr>
        </p:nvSpPr>
        <p:spPr>
          <a:xfrm>
            <a:off x="413892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/>
          </p:nvPr>
        </p:nvSpPr>
        <p:spPr>
          <a:xfrm>
            <a:off x="712260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D58B0-7831-4DCB-9810-0FFD8B4963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6515EC-4907-4B24-A92C-135313C907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F4671-6351-4E28-9FDC-88A6B65940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B19409-C5A9-4A7B-8949-5FBC4AF48E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169921-E212-4F36-AEE7-9A51C8A377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67E3B7-171F-462B-A14C-515F035315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154880" y="973800"/>
            <a:ext cx="8760960" cy="327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E6938A-C299-4A2E-B561-DD694FAC2D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681EB8-5AE3-4E87-9714-7C5AE309FC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9A97E8-5B8B-4DD1-8952-ED41007309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A76DC-F2C7-4AC8-BFC9-6095C1ECE6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BF138E-47EE-4905-A353-B58ECC01BB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900A7D-5C46-413D-B3BC-FD28BD36E9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13892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712260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15488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413892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712260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B17CF-9111-47D5-9804-FBAFFE5367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C22E9E5-2DCA-43EE-A70C-1655160472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ADC4500-CCE6-490A-B5E7-A87DE1041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333D976-03E1-4F1A-B429-488283B1C6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B8F262-3C72-46DD-8D48-BF73586279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A89516-C1EA-4336-9043-12D5867F60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1154880" y="973800"/>
            <a:ext cx="8760960" cy="327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D8C9F89-4375-455C-877C-B50415CDEE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10DB36-7346-4410-8C50-6BFB1F2544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E2958C5-1891-42F8-B263-68734B6B69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23F9B9-CC83-443F-89B7-41A830534E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1154880" y="4388040"/>
            <a:ext cx="88254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3EDD82-BDDA-4220-AE51-A016A4FBCC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677200" y="260352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115488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5677200" y="4388040"/>
            <a:ext cx="43066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B168A6-0EC7-44DD-8E7F-68E4F185A9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13892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122600" y="260352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115488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413892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122600" y="4388040"/>
            <a:ext cx="284148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F7A42B-6AA2-4134-AA46-69935070A4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3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/>
              <a:ahLst/>
              <a:rect l="l" t="t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Rectangle 20" hidden="1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pSp>
        <p:nvGrpSpPr>
          <p:cNvPr id="11" name="Group 6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Rectangle 8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54880" y="2099880"/>
            <a:ext cx="8825400" cy="2677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Click to edit </a:t>
            </a: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Master title style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1"/>
          </p:nvPr>
        </p:nvSpPr>
        <p:spPr>
          <a:xfrm rot="5400000">
            <a:off x="10159200" y="179208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ffffff">
                    <a:alpha val="60000"/>
                  </a:srgbClr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>
                    <a:alpha val="60000"/>
                  </a:srgbClr>
                </a:solidFill>
                <a:latin typeface="Century Gothic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2"/>
          </p:nvPr>
        </p:nvSpPr>
        <p:spPr>
          <a:xfrm rot="5400000">
            <a:off x="8952120" y="322776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" name="PlaceHolder 4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buNone/>
              <a:defRPr b="0" lang="en-US" sz="280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D708DBA2-BC67-427C-85BA-7832CC54D9DD}" type="slidenum">
              <a:rPr b="0" lang="en-US" sz="2800" spc="-1" strike="noStrike">
                <a:solidFill>
                  <a:srgbClr val="ffffff"/>
                </a:solidFill>
                <a:latin typeface="Century Gothic"/>
              </a:rPr>
              <a:t>39</a:t>
            </a:fld>
            <a:endParaRPr b="0" lang="en-US" sz="2800" spc="-1" strike="noStrike"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57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8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9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0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1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2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3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/>
              <a:ahLst/>
              <a:rect l="l" t="t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" name="Rectangle 20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"/>
          </p:nvPr>
        </p:nvSpPr>
        <p:spPr>
          <a:xfrm>
            <a:off x="10653120" y="639180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1000" spc="-1" strike="noStrike">
                <a:solidFill>
                  <a:srgbClr val="b31166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b31166"/>
                </a:solidFill>
                <a:latin typeface="Century Gothic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5"/>
          </p:nvPr>
        </p:nvSpPr>
        <p:spPr>
          <a:xfrm>
            <a:off x="561240" y="639180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buNone/>
              <a:defRPr b="0" lang="en-US" sz="280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FCF4190B-AE9A-4BFE-B570-C073DA5602A3}" type="slidenum">
              <a:rPr b="0" lang="en-US" sz="2800" spc="-1" strike="noStrike">
                <a:solidFill>
                  <a:srgbClr val="ffffff"/>
                </a:solidFill>
                <a:latin typeface="Century Gothic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09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0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11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12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13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14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15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/>
              <a:ahLst/>
              <a:rect l="l" t="t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8" name="Rectangle 20" hidden="1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pSp>
        <p:nvGrpSpPr>
          <p:cNvPr id="119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0" name="Rectangle 13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1" name="Oval 16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372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2" name="Oval 17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235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3" name="Oval 18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4" name="Oval 19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58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5" name="Oval 20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117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6" name="Rectangle 9"/>
            <p:cNvSpPr/>
            <p:nvPr/>
          </p:nvSpPr>
          <p:spPr>
            <a:xfrm>
              <a:off x="7289640" y="402120"/>
              <a:ext cx="4478400" cy="605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7" name="Freeform 5"/>
            <p:cNvSpPr/>
            <p:nvPr/>
          </p:nvSpPr>
          <p:spPr>
            <a:xfrm rot="16200000">
              <a:off x="3787200" y="2801880"/>
              <a:ext cx="6053400" cy="1254240"/>
            </a:xfrm>
            <a:custGeom>
              <a:avLst/>
              <a:gdLst/>
              <a:ah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Freeform 5"/>
            <p:cNvSpPr/>
            <p:nvPr/>
          </p:nvSpPr>
          <p:spPr>
            <a:xfrm rot="15922200">
              <a:off x="4698360" y="1826280"/>
              <a:ext cx="3299040" cy="440640"/>
            </a:xfrm>
            <a:custGeom>
              <a:avLst/>
              <a:gdLst/>
              <a:ah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/>
              <a:ahLst/>
              <a:rect l="l" t="t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154880" y="2677680"/>
            <a:ext cx="435060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ebebeb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95440" y="2677680"/>
            <a:ext cx="375732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ef53a5"/>
                </a:solidFill>
                <a:latin typeface="Century Gothic"/>
              </a:rPr>
              <a:t>Click to edit Master text styles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dt" idx="7"/>
          </p:nvPr>
        </p:nvSpPr>
        <p:spPr>
          <a:xfrm>
            <a:off x="10653120" y="639180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1000" spc="-1" strike="noStrike">
                <a:solidFill>
                  <a:srgbClr val="b31166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b31166"/>
                </a:solidFill>
                <a:latin typeface="Century Gothic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ftr" idx="8"/>
          </p:nvPr>
        </p:nvSpPr>
        <p:spPr>
          <a:xfrm>
            <a:off x="561240" y="639180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4" name="Rectangle 15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PlaceHolder 5"/>
          <p:cNvSpPr>
            <a:spLocks noGrp="1"/>
          </p:cNvSpPr>
          <p:nvPr>
            <p:ph type="sldNum" idx="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buNone/>
              <a:defRPr b="0" lang="en-US" sz="280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3355E246-FDD4-47B0-9114-88ADFB260C72}" type="slidenum">
              <a:rPr b="0" lang="en-US" sz="2800" spc="-1" strike="noStrike">
                <a:solidFill>
                  <a:srgbClr val="ffffff"/>
                </a:solidFill>
                <a:latin typeface="Century Gothic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BishopFox/sliver" TargetMode="External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154880" y="2099880"/>
            <a:ext cx="8825400" cy="2677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ebebeb"/>
                </a:solidFill>
                <a:latin typeface="Century Gothic"/>
              </a:rPr>
              <a:t>Red Team Fundamentals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1154880" y="477756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rgbClr val="ef53a5"/>
                </a:solidFill>
                <a:latin typeface="Century Gothic"/>
              </a:rPr>
              <a:t>Caleb Fleming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Who Am I?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Caleb (please no “Mr. Fleming”)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ACE 2016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DoD Red Teamer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CCDC Red Teamer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Home Lab Enthusiast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Rules of the Road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this information for good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You will learn how to hack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Understanding offense is critical to building solid defense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I’m not covering much on how to not get caught, so please don’t try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Please ask questions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I’m not the one who gets a grade at the end of this week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Only you know what you don’t know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Please speak up if I gloss over content/acronyms you don’t know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This will be a mile high overview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 will be glossing over a lot of intricacies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Some exceptions may apply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Definitions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Attacker/Operator – Us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Victim/Target – Them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Implant/Agent – Tool that gives an attacker access to a victim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Many more to come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Challenge Problem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Gain initial access to PROCE domain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Elevate privileges and move around PROCE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Locate and exfiltrate 4 intel files located within the domain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Blend in as much as possible, people might be looking for you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Write a report detailing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Thought process/analysis you performed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Attack chain taken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Artifacts you generated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Artifacts you left behind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Our Tools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For this lecture and challenge problem we will be using Sliver (</a:t>
            </a:r>
            <a:r>
              <a:rPr b="0" lang="en-US" sz="1800" spc="-1" strike="noStrike" u="sng">
                <a:solidFill>
                  <a:srgbClr val="ababab"/>
                </a:solidFill>
                <a:uFillTx/>
                <a:latin typeface="Century Gothic"/>
                <a:hlinkClick r:id="rId1"/>
              </a:rPr>
              <a:t>https://github.com/BishopFox/sliver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Goal is to teach the fundamentals that apply to multiple toolsets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If you are interested in this field, I recommend experimenting with multiple tools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Merlin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Metasploit/Meterpreter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Mythic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Covenant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Etc.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Lets Dive In!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154880" y="2677680"/>
            <a:ext cx="435060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ebebeb"/>
                </a:solidFill>
                <a:latin typeface="Century Gothic"/>
              </a:rPr>
              <a:t>Attacker Mindset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525000" y="2494800"/>
            <a:ext cx="5272920" cy="327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151e29"/>
                </a:solidFill>
                <a:latin typeface="Nunito Sans"/>
              </a:rPr>
              <a:t>“</a:t>
            </a:r>
            <a:r>
              <a:rPr b="0" lang="en-US" sz="2000" spc="-1" strike="noStrike" cap="all">
                <a:solidFill>
                  <a:srgbClr val="151e29"/>
                </a:solidFill>
                <a:latin typeface="Nunito Sans"/>
              </a:rPr>
              <a:t>Defenders think in lists. Attackers think in graphs. As long as this is true, attackers will win.”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151e29"/>
                </a:solidFill>
                <a:latin typeface="Nunito Sans"/>
              </a:rPr>
              <a:t>– </a:t>
            </a:r>
            <a:r>
              <a:rPr b="0" lang="en-US" sz="2000" spc="-1" strike="noStrike" cap="all">
                <a:solidFill>
                  <a:srgbClr val="151e29"/>
                </a:solidFill>
                <a:latin typeface="Nunito Sans"/>
              </a:rPr>
              <a:t>John Lambert, General Manager, Microsoft Threat Intelligence Center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Define Your Objective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What do you want to gain by attacking your target?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Information?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Effects?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Access?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Requires that you know something about your target. RECON!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Find as much information you can about your target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Open Source Intelligence/Reconnaissance (OSR)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BEFORE you do anything else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Remember that your objective might evolve as you learn more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6" descr=""/>
          <p:cNvPicPr/>
          <p:nvPr/>
        </p:nvPicPr>
        <p:blipFill>
          <a:blip r:embed="rId1"/>
          <a:stretch/>
        </p:blipFill>
        <p:spPr>
          <a:xfrm>
            <a:off x="2228760" y="2071080"/>
            <a:ext cx="7590960" cy="3393360"/>
          </a:xfrm>
          <a:prstGeom prst="rect">
            <a:avLst/>
          </a:prstGeom>
          <a:ln w="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“</a:t>
            </a: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Cyber Kill Chain”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2960640" y="545976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Keep your objective in mind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38080" y="2299320"/>
            <a:ext cx="10515240" cy="3881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What information am I missing to find my objective?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What steps do I need to take to get closer to my objective?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 I need to redefine/expand my objective?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WARNING: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It is easy to get lost if you forget about your objective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Every step you take should be intentional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At every point of the process, you should be able to describe WHY you are doing what you are doing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Be Blendy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Understand what your actions look like to an outside observer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Does what you are doing look “normal”?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 users normally browse to HTTPS sites? -&gt; yes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 critical servers with no users browse to HTTPS sites? -&gt; no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 new files named “malware.exe” show up on your desktop randomly? -&gt; I hope not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This is commonly referred to as tradecraft and I could spend a ton of time talking about it, but we don’t have enough time </a:t>
            </a:r>
            <a:r>
              <a:rPr b="0" lang="en-US" sz="1800" spc="-1" strike="noStrike">
                <a:solidFill>
                  <a:srgbClr val="404040"/>
                </a:solidFill>
                <a:latin typeface="Wingdings"/>
              </a:rPr>
              <a:t>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Read. All. The. Words.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Attackers often sift through a ton of information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Users often have tons of files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Network stores have even more files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Commands often return a lot of output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Nuggets of critical information are often buried next to junk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It is critical that you read all the output you get back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Looking at != Reading. Take your time. It is worth it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154880" y="2677680"/>
            <a:ext cx="435060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ebebeb"/>
                </a:solidFill>
                <a:latin typeface="Century Gothic"/>
              </a:rPr>
              <a:t>Backend Infrastructure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895440" y="2677680"/>
            <a:ext cx="375732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Attack Station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Computer used by an operator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Contains the tools the operator intends to use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Ideally ephemeral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can be changed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doesn’t always need to be on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Team Server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Allows multiple operators to work together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Serves as the central management point for your operation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Several tools do not have a concept of a team 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Agents call back to a single attack station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Makes collaboration more difficult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Most new tools at least try to implement a team server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Listeners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Listens for incoming agent connections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Multiple configuration options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Important that they match the settings that the agents are expecting to call back to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Redirectors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Sometimes (most of the time) it is not ideal for agents to call back directly to your teamserver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Limits creativity on where the traffic is going to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Makes moving when IPs are found and blocked more difficult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Opens your team server to fingerprinting, discovery, and exploitation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Redirectors solve this by providing multiple locations that will redirect/tunnel traffic back to your teamserver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Easier to replace since the redirectors don’t store state, just handle traffic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Redirectors (cont)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Can be implemented in multiple ways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Firewalls (NAT)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Proxies (NGINX, Apache)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Tunnels (SSH, VPN)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Payloads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Agents don’t magically appear (as much as we might hope they will)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Payload is the artifact that creates an agent when executed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Can take many different forms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Executable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Shellcode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Script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Office Macro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Etc.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Generated by the operator according to operational need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Settings need to match the settings of the listener you want it to use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Payloads: Stagers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Minimal code needed to download and execute the full agent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Small, fits in more places and can be less noticeable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Requires access to reach out to your infrastructure to download the full agent to execute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Goes by many names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Stagers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Download Cradles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Stage Zero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Payloads: Stage-less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Stage-less payloads contain all of the code needed to run the agent from the beginning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Often larger than staged payloads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 not require downloading of additional code to function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Infrastructure Testing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Critical that you test all of the parts of your infrastructure before use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Goal is to find any issues while you control ALL of the pieces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When you start your operation, your opponent gets a say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Network oddities, security products, or just bad luck can impact you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Testing eliminates many unknowns so at the very least you know that what you control works as expected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Easiest way to test is to execute your payload on a box you control, if you get a callback then you know everything works as expected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Lab #1 – Infrastructure Setup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Connect to your team server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Start an HTTPS listener on port 443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Generate a payload to call back to that listener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Test to ensure that your callback works as expected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154880" y="2677680"/>
            <a:ext cx="435060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ebebeb"/>
                </a:solidFill>
                <a:latin typeface="Century Gothic"/>
              </a:rPr>
              <a:t>Initial Callback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895440" y="2677680"/>
            <a:ext cx="3757320" cy="2283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ef53a5"/>
                </a:solidFill>
                <a:latin typeface="Century Gothic"/>
              </a:rPr>
              <a:t>You get a callback…. Now what?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How did you get your callback?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There are many ways to get your initial access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Phishing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Insider Threat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Exploit/Remote Code Execution (RCE)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Leave a malicious USB in the parking lot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Break in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Only limited by your creativity (and your rules of engagement)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Later lectures will cover this in more detail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Now what?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26" name="Picture 6" descr=""/>
          <p:cNvPicPr/>
          <p:nvPr/>
        </p:nvPicPr>
        <p:blipFill>
          <a:blip r:embed="rId1"/>
          <a:stretch/>
        </p:blipFill>
        <p:spPr>
          <a:xfrm>
            <a:off x="2085840" y="2580840"/>
            <a:ext cx="7590960" cy="3393360"/>
          </a:xfrm>
          <a:prstGeom prst="rect">
            <a:avLst/>
          </a:prstGeom>
          <a:ln w="0">
            <a:noFill/>
          </a:ln>
        </p:spPr>
      </p:pic>
      <p:sp>
        <p:nvSpPr>
          <p:cNvPr id="227" name="TextBox 4"/>
          <p:cNvSpPr/>
          <p:nvPr/>
        </p:nvSpPr>
        <p:spPr>
          <a:xfrm>
            <a:off x="2818080" y="592848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Arrow: Down 5"/>
          <p:cNvSpPr/>
          <p:nvPr/>
        </p:nvSpPr>
        <p:spPr>
          <a:xfrm>
            <a:off x="3114720" y="4680360"/>
            <a:ext cx="37116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31166"/>
          </a:solidFill>
          <a:ln cap="rnd">
            <a:solidFill>
              <a:srgbClr val="840c4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TextBox 6"/>
          <p:cNvSpPr/>
          <p:nvPr/>
        </p:nvSpPr>
        <p:spPr>
          <a:xfrm>
            <a:off x="2485080" y="4311000"/>
            <a:ext cx="174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We are here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1122840" y="221220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 stars have aligned, and you have a callback, what now?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Initial (Local) Recon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When you first land, you know probably know very little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Gathering information is critical to orient yourself in the network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user are you?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Are you an admin? What groups are you in?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OS are you on?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Is anyone else logged into this machine?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Are you in a domain?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defenses are here?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You should initially focus on enumerating the local system, the network can wait until you are oriented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Network Recon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838080" y="2263680"/>
            <a:ext cx="10629720" cy="3912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After you are comfortable on your local machine, start to look outward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Potential questions to ask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other users are there in the domain?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domain groups are interesting? Are there any with “admin” in the name?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Who is a member of those interesting groups?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Where is my domain controller?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Are there services in the network? Is anyone on this machine using those services?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Are there any file shares that I could dig through?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Lab #2 – Enumeration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Enumerate the following on your initial callback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Your Username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Your Groups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OS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Domain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Domain Users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Domain Groups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Any interesting files?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“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Shell” command will open an interactive powershell.exe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Google is your friend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Feel free to dig further on your local system when you finish, but find the above information first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Helpful Enumeration Commands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net user [/domain]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ipconfig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net localgroup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net group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dir / 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Multiple sa-* tools in the sliver armory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9680760" y="6687000"/>
            <a:ext cx="4740480" cy="60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use 201cb101-f5c7-461e-8c84-7e6216d5f0f6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Why Enumerate?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Why Enumerate?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Informs next steps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Helps us find our objective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Finds targets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Helps us hide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Might find something unexpected that changes our objective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Now what?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45" name="Picture 6" descr=""/>
          <p:cNvPicPr/>
          <p:nvPr/>
        </p:nvPicPr>
        <p:blipFill>
          <a:blip r:embed="rId1"/>
          <a:stretch/>
        </p:blipFill>
        <p:spPr>
          <a:xfrm>
            <a:off x="2411280" y="2706840"/>
            <a:ext cx="6534000" cy="2920680"/>
          </a:xfrm>
          <a:prstGeom prst="rect">
            <a:avLst/>
          </a:prstGeom>
          <a:ln w="0">
            <a:noFill/>
          </a:ln>
        </p:spPr>
      </p:pic>
      <p:sp>
        <p:nvSpPr>
          <p:cNvPr id="246" name="TextBox 4"/>
          <p:cNvSpPr/>
          <p:nvPr/>
        </p:nvSpPr>
        <p:spPr>
          <a:xfrm>
            <a:off x="2818080" y="569772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7" name="Arrow: Down 5"/>
          <p:cNvSpPr/>
          <p:nvPr/>
        </p:nvSpPr>
        <p:spPr>
          <a:xfrm rot="10800000">
            <a:off x="4038840" y="5504760"/>
            <a:ext cx="37116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31166"/>
          </a:solidFill>
          <a:ln cap="rnd">
            <a:solidFill>
              <a:srgbClr val="840c4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TextBox 6"/>
          <p:cNvSpPr/>
          <p:nvPr/>
        </p:nvSpPr>
        <p:spPr>
          <a:xfrm>
            <a:off x="3537720" y="6044400"/>
            <a:ext cx="1372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We are here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1122840" y="224640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enumerated our local machine and network, what now?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Local Privilege Escalation!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need to find a way to increase the permissions that we have on our machine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This will allow us to access more files/credential material that we can use to pivot further into the network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Before we really dig into privilege escalation, we need to cover some more information on the privilege/permissions structure of our target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Linux privilege structure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Really only three tiers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Root – Able to do whatever you want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Admin User – Able to run things with root permissions if you want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Normal User – Stuck in normal user land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Running ‘id’ will tell you your user id and any groups you are 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If you are UID 0 then you are root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If you are in the “sudo” or “wheel” group then you are probably an admin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Running ‘sudo –l’ (dash lowercase L) will tell you if you have permissions to run things as root if you want to be sure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Windows Privilege Structure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MUCH MORE COMPLICATED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User permissions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Users can be individually assigned permissions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Permissions can be set for groups as well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If you want to dig deeper, you can dig into ACLs, DACLs, etc.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 most important thing for you to know now is that Local Administrators are generally equivalent to the sudo group on linux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Even if you are an “Administrator”, most programs you run will not have permissions to do whatever they want. Why? 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Process Integrity Contexts!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Windows Process Integrity Contexts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Introduced in Windows Vista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Adds an additional layer of security to ensure admins only have special powers for specific actions. Prevents accidents and abuse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Processes are assigned one of three integrity levels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Low Integrity – Web browsers and untrusted guest users. Can’t do much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Medium Integrity – Most normal user processes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High Integrity – Admin processes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How do programs get a High Integrity Process? User Account Control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User Account Control (UAC)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1154880" y="240336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Requires a program to specifically request or be started in a high integrity context (right-click -&gt; “run as administrator”)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Requires that a user accept a prompt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The prompt is handled at the operating system level to prevent a program from attempting to circumvent the process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pic>
        <p:nvPicPr>
          <p:cNvPr id="260" name="Picture 2" descr="See the source image"/>
          <p:cNvPicPr/>
          <p:nvPr/>
        </p:nvPicPr>
        <p:blipFill>
          <a:blip r:embed="rId1"/>
          <a:stretch/>
        </p:blipFill>
        <p:spPr>
          <a:xfrm>
            <a:off x="3714840" y="4111560"/>
            <a:ext cx="4762080" cy="238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How do I get high integrity?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Fool a user into accepting the prompt for you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Accept the prompt yourself if you are interactively logged in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RDP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Sitting at their computer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UAC Bypass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Found and released from time to time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Patched by Microsoft quickly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Exploit a process with high integrity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Sometimes you can start a high integrity process on a machine over the network with credentials (more on this later)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Now what?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64" name="Picture 6" descr=""/>
          <p:cNvPicPr/>
          <p:nvPr/>
        </p:nvPicPr>
        <p:blipFill>
          <a:blip r:embed="rId1"/>
          <a:stretch/>
        </p:blipFill>
        <p:spPr>
          <a:xfrm>
            <a:off x="2745000" y="2931120"/>
            <a:ext cx="6043320" cy="2701440"/>
          </a:xfrm>
          <a:prstGeom prst="rect">
            <a:avLst/>
          </a:prstGeom>
          <a:ln w="0">
            <a:noFill/>
          </a:ln>
        </p:spPr>
      </p:pic>
      <p:sp>
        <p:nvSpPr>
          <p:cNvPr id="265" name="TextBox 4"/>
          <p:cNvSpPr/>
          <p:nvPr/>
        </p:nvSpPr>
        <p:spPr>
          <a:xfrm>
            <a:off x="2818080" y="569772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6" name="Arrow: Down 5"/>
          <p:cNvSpPr/>
          <p:nvPr/>
        </p:nvSpPr>
        <p:spPr>
          <a:xfrm rot="10800000">
            <a:off x="5477040" y="5633280"/>
            <a:ext cx="37116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31166"/>
          </a:solidFill>
          <a:ln cap="rnd">
            <a:solidFill>
              <a:srgbClr val="840c4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7" name="TextBox 6"/>
          <p:cNvSpPr/>
          <p:nvPr/>
        </p:nvSpPr>
        <p:spPr>
          <a:xfrm>
            <a:off x="4971600" y="6162480"/>
            <a:ext cx="1590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We are here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a high integrity process, what now?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Credential Abuse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already enumerated everything our user can see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Time to steal other credentials to see what they can see!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System level permissions are nice to have full access to the local machine (see all files and users)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Other domain users credentials can provide access to other machines or resources that you previously did not have permissions to see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Always keep your objective in mind!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How to access credentials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Find them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You would be amazed what people will write down and store in files on disk/in network shares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Finding password lists can be a nice way to get around a network quickly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System level access is helpful to enumerate all files on your local machine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Steal them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Every process in windows has a “token” which contains credential material used to authenticate a user 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System is able to copy (steal) the token from any running process, which allows you to access resources that the owner of that process would be able to access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Lab #3 – Credential Theft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your initial beacon to find/steal credentials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What user do you want to target?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Why?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Use your new credentials to enumerate files on a different machine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Now what?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76" name="Picture 6" descr=""/>
          <p:cNvPicPr/>
          <p:nvPr/>
        </p:nvPicPr>
        <p:blipFill>
          <a:blip r:embed="rId1"/>
          <a:stretch/>
        </p:blipFill>
        <p:spPr>
          <a:xfrm>
            <a:off x="2813760" y="3041640"/>
            <a:ext cx="5941080" cy="2655720"/>
          </a:xfrm>
          <a:prstGeom prst="rect">
            <a:avLst/>
          </a:prstGeom>
          <a:ln w="0">
            <a:noFill/>
          </a:ln>
        </p:spPr>
      </p:pic>
      <p:sp>
        <p:nvSpPr>
          <p:cNvPr id="277" name="TextBox 4"/>
          <p:cNvSpPr/>
          <p:nvPr/>
        </p:nvSpPr>
        <p:spPr>
          <a:xfrm>
            <a:off x="2818080" y="5697720"/>
            <a:ext cx="6127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entury Gothic"/>
              </a:rPr>
              <a:t>https://ptgmedia.pearsoncmg.com/images/chap1_9780135752036/elementLinks/F01XX01.jpg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Arrow: Down 5"/>
          <p:cNvSpPr/>
          <p:nvPr/>
        </p:nvSpPr>
        <p:spPr>
          <a:xfrm rot="5400000">
            <a:off x="7441200" y="3996000"/>
            <a:ext cx="37116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31166"/>
          </a:solidFill>
          <a:ln cap="rnd">
            <a:solidFill>
              <a:srgbClr val="840c4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9" name="TextBox 6"/>
          <p:cNvSpPr/>
          <p:nvPr/>
        </p:nvSpPr>
        <p:spPr>
          <a:xfrm>
            <a:off x="7958520" y="4122000"/>
            <a:ext cx="1957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We are here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455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 have stolen another users credentials, what now?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For Tomorrow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Lateral Movement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Domain Recon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Start on the challenge problem!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ebebeb"/>
                </a:solidFill>
                <a:latin typeface="Century Gothic"/>
              </a:rPr>
              <a:t>Questions?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11574</TotalTime>
  <Application>LibreOffice/7.3.7.2$Linux_X86_64 LibreOffice_project/30$Build-2</Application>
  <AppVersion>15.0000</AppVersion>
  <Words>2294</Words>
  <Paragraphs>290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2022-04-27T17:03:52Z</dcterms:created>
  <dc:creator>Caleb Fleming (GOV)</dc:creator>
  <dc:description/>
  <dc:language>en-US</dc:language>
  <cp:lastModifiedBy/>
  <dcterms:modified xsi:type="dcterms:W3CDTF">2025-06-19T13:30:06Z</dcterms:modified>
  <cp:revision>2</cp:revision>
  <dc:subject/>
  <dc:title>Red Team Fundamentals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47</vt:i4>
  </property>
</Properties>
</file>