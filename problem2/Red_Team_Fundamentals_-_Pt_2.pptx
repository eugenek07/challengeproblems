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99B0F6-52CE-4762-911C-8F1EA00A05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8CE26B-BF4A-4F56-BEF7-36950E366A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34DCF9-A0DF-480F-90FA-7D4AAA12A9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6AA534-D23A-494C-BD5B-212F22D30D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96A7C0-539F-42DE-BBBA-9D4A8A210E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1154880" y="973800"/>
            <a:ext cx="8760960" cy="327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716E2B-3ED1-4C3F-860F-A27AE7FB62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628CAC-C792-4D68-9D7B-EEFB4B80DB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495173-4614-4AA5-91AF-A85A939F21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436198-4D87-457F-9E18-A13737A030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74B804-6088-4BCC-9F2D-755FF491E5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5997EE-9AB3-4CB0-AF42-C9276D8869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13892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712260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/>
          </p:nvPr>
        </p:nvSpPr>
        <p:spPr>
          <a:xfrm>
            <a:off x="115488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/>
          </p:nvPr>
        </p:nvSpPr>
        <p:spPr>
          <a:xfrm>
            <a:off x="413892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/>
          </p:nvPr>
        </p:nvSpPr>
        <p:spPr>
          <a:xfrm>
            <a:off x="712260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A0465-C35E-40F7-9686-67CAD316A1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339C3D-CB0F-4CB7-B36A-5A04A9CF75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FC0CF3-C462-44C1-973F-DE20BFA8F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631B37-7DBB-479A-936D-AB5740647B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C20EC3-36A5-4E2B-BE10-22401FE5BE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96A87A-4F9D-4AF8-A9F1-8C2FAD5B75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154880" y="973800"/>
            <a:ext cx="8760960" cy="327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600AE0-6F35-47E7-A64B-451E69AB15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600F88-384C-4FE4-8302-451A96F7CA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8865A6-A13C-4E60-B381-AEECF10346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2A804D-E113-4767-BD96-CF5F634584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6AF8AA-193E-4861-8743-583B97211C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AD74A1-56B6-45AE-8910-6A02D56500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413892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712260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115488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/>
          </p:nvPr>
        </p:nvSpPr>
        <p:spPr>
          <a:xfrm>
            <a:off x="413892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/>
          </p:nvPr>
        </p:nvSpPr>
        <p:spPr>
          <a:xfrm>
            <a:off x="712260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56F5AE-73A6-4111-B4B0-5D27F7D16D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7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" name="Rectangle 6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" name="Oval 12"/>
            <p:cNvSpPr/>
            <p:nvPr/>
          </p:nvSpPr>
          <p:spPr>
            <a:xfrm>
              <a:off x="0" y="2666880"/>
              <a:ext cx="4190760" cy="41907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372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3" name="Oval 14"/>
            <p:cNvSpPr/>
            <p:nvPr/>
          </p:nvSpPr>
          <p:spPr>
            <a:xfrm>
              <a:off x="0" y="2895480"/>
              <a:ext cx="2361960" cy="23619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235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4" name="Oval 17"/>
            <p:cNvSpPr/>
            <p:nvPr/>
          </p:nvSpPr>
          <p:spPr>
            <a:xfrm>
              <a:off x="8609040" y="5867280"/>
              <a:ext cx="990360" cy="9903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" name="Oval 15"/>
            <p:cNvSpPr/>
            <p:nvPr/>
          </p:nvSpPr>
          <p:spPr>
            <a:xfrm>
              <a:off x="8609040" y="1676520"/>
              <a:ext cx="2819160" cy="28191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58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" name="Oval 16"/>
            <p:cNvSpPr/>
            <p:nvPr/>
          </p:nvSpPr>
          <p:spPr>
            <a:xfrm>
              <a:off x="7999560" y="8640"/>
              <a:ext cx="1599840" cy="159984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" name="Freeform 5"/>
            <p:cNvSpPr/>
            <p:nvPr/>
          </p:nvSpPr>
          <p:spPr>
            <a:xfrm rot="21010200">
              <a:off x="8490960" y="1797480"/>
              <a:ext cx="3299040" cy="440640"/>
            </a:xfrm>
            <a:custGeom>
              <a:avLst/>
              <a:gdLst/>
              <a:ah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5"/>
            <p:cNvSpPr/>
            <p:nvPr/>
          </p:nvSpPr>
          <p:spPr>
            <a:xfrm>
              <a:off x="459360" y="1866240"/>
              <a:ext cx="11277360" cy="4533480"/>
            </a:xfrm>
            <a:custGeom>
              <a:avLst/>
              <a:gdLst/>
              <a:ahLst/>
              <a:rect l="l" t="t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/>
              <a:ahLst/>
              <a:rect l="l" t="t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" name="Rectangle 20" hidden="1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pSp>
        <p:nvGrpSpPr>
          <p:cNvPr id="11" name="Group 6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2" name="Rectangle 8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/>
              <a:ahLst/>
              <a:rect l="l" t="t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54880" y="2099880"/>
            <a:ext cx="8825400" cy="2677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rgbClr val="ebebeb"/>
                </a:solidFill>
                <a:latin typeface="Century Gothic"/>
              </a:rPr>
              <a:t>Click to edit </a:t>
            </a:r>
            <a:r>
              <a:rPr b="0" lang="en-US" sz="5400" spc="-1" strike="noStrike">
                <a:solidFill>
                  <a:srgbClr val="ebebeb"/>
                </a:solidFill>
                <a:latin typeface="Century Gothic"/>
              </a:rPr>
              <a:t>Master title style</a:t>
            </a:r>
            <a:endParaRPr b="0" lang="en-US" sz="54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1"/>
          </p:nvPr>
        </p:nvSpPr>
        <p:spPr>
          <a:xfrm rot="5400000">
            <a:off x="10159200" y="179208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ffffff">
                    <a:alpha val="60000"/>
                  </a:srgbClr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>
                    <a:alpha val="60000"/>
                  </a:srgbClr>
                </a:solidFill>
                <a:latin typeface="Century Gothic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2"/>
          </p:nvPr>
        </p:nvSpPr>
        <p:spPr>
          <a:xfrm rot="5400000">
            <a:off x="8952120" y="322776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" name="Rectangle 10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" name="PlaceHolder 4"/>
          <p:cNvSpPr>
            <a:spLocks noGrp="1"/>
          </p:cNvSpPr>
          <p:nvPr>
            <p:ph type="sldNum" idx="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buNone/>
              <a:defRPr b="0" lang="en-US" sz="280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69E4A824-3586-4A88-9979-2F7E72C7DB79}" type="slidenum">
              <a:rPr b="0" lang="en-US" sz="2800" spc="-1" strike="noStrike">
                <a:solidFill>
                  <a:srgbClr val="ffffff"/>
                </a:solidFill>
                <a:latin typeface="Century Gothic"/>
              </a:rPr>
              <a:t>&lt;number&gt;</a:t>
            </a:fld>
            <a:endParaRPr b="0" lang="en-US" sz="2800" spc="-1" strike="noStrike"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7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57" name="Rectangle 6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" name="Oval 12"/>
            <p:cNvSpPr/>
            <p:nvPr/>
          </p:nvSpPr>
          <p:spPr>
            <a:xfrm>
              <a:off x="0" y="2666880"/>
              <a:ext cx="4190760" cy="41907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372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9" name="Oval 14"/>
            <p:cNvSpPr/>
            <p:nvPr/>
          </p:nvSpPr>
          <p:spPr>
            <a:xfrm>
              <a:off x="0" y="2895480"/>
              <a:ext cx="2361960" cy="23619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235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0" name="Oval 17"/>
            <p:cNvSpPr/>
            <p:nvPr/>
          </p:nvSpPr>
          <p:spPr>
            <a:xfrm>
              <a:off x="8609040" y="5867280"/>
              <a:ext cx="990360" cy="9903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1" name="Oval 15"/>
            <p:cNvSpPr/>
            <p:nvPr/>
          </p:nvSpPr>
          <p:spPr>
            <a:xfrm>
              <a:off x="8609040" y="1676520"/>
              <a:ext cx="2819160" cy="28191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58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2" name="Oval 16"/>
            <p:cNvSpPr/>
            <p:nvPr/>
          </p:nvSpPr>
          <p:spPr>
            <a:xfrm>
              <a:off x="7999560" y="8640"/>
              <a:ext cx="1599840" cy="159984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3" name="Freeform 5"/>
            <p:cNvSpPr/>
            <p:nvPr/>
          </p:nvSpPr>
          <p:spPr>
            <a:xfrm rot="21010200">
              <a:off x="8490960" y="1797480"/>
              <a:ext cx="3299040" cy="440640"/>
            </a:xfrm>
            <a:custGeom>
              <a:avLst/>
              <a:gdLst/>
              <a:ah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" name="Freeform 5"/>
            <p:cNvSpPr/>
            <p:nvPr/>
          </p:nvSpPr>
          <p:spPr>
            <a:xfrm>
              <a:off x="459360" y="1866240"/>
              <a:ext cx="11277360" cy="4533480"/>
            </a:xfrm>
            <a:custGeom>
              <a:avLst/>
              <a:gdLst/>
              <a:ahLst/>
              <a:rect l="l" t="t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/>
              <a:ahLst/>
              <a:rect l="l" t="t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6" name="Rectangle 20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3" marL="16002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0574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4"/>
          </p:nvPr>
        </p:nvSpPr>
        <p:spPr>
          <a:xfrm>
            <a:off x="10653120" y="639180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1000" spc="-1" strike="noStrike">
                <a:solidFill>
                  <a:srgbClr val="b31166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b31166"/>
                </a:solidFill>
                <a:latin typeface="Century Gothic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5"/>
          </p:nvPr>
        </p:nvSpPr>
        <p:spPr>
          <a:xfrm>
            <a:off x="561240" y="639180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6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buNone/>
              <a:defRPr b="0" lang="en-US" sz="280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7B3633A1-2566-4719-8F3D-76CDF20F1DA9}" type="slidenum">
              <a:rPr b="0" lang="en-US" sz="2800" spc="-1" strike="noStrike">
                <a:solidFill>
                  <a:srgbClr val="ffffff"/>
                </a:solidFill>
                <a:latin typeface="Century Gothic"/>
              </a:rPr>
              <a:t>&lt;number&gt;</a:t>
            </a:fld>
            <a:endParaRPr b="0" lang="en-US" sz="2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github.com/BishopFox/sliver" TargetMode="External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file://TARGET" TargetMode="External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154880" y="2099880"/>
            <a:ext cx="8825400" cy="2677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rgbClr val="ebebeb"/>
                </a:solidFill>
                <a:latin typeface="Century Gothic"/>
              </a:rPr>
              <a:t>Red Team Fundamentals</a:t>
            </a:r>
            <a:endParaRPr b="0" lang="en-US" sz="54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1154880" y="477756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rgbClr val="ef53a5"/>
                </a:solidFill>
                <a:latin typeface="Century Gothic"/>
              </a:rPr>
              <a:t>Caleb Fleming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Rules of the Road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 this information for good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You will learn how to hack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Understanding offense is critical to building solid defense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I’m not covering much on how to not get caught, so please don’t try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Please ask questions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I’m not the one who gets a grade at the end of this week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Only you know what you don’t know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Please speak up if I gloss over content/acronyms you don’t know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This will be a mile high overview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 will be glossing over a lot of intricacies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Some exceptions may apply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Challenge Problem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Gain initial access to PROCE domain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Elevate privileges and move around PROCE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Locate and exfiltrate 4 intel files located within the domain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Blend in as much as possible, people might be looking for you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Write a report detailing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Thought process/analysis you performed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Attack chain taken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Artifacts you generated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Artifacts you left behind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Our Tools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For this lecture and challenge problem we will be using Sliver (</a:t>
            </a:r>
            <a:r>
              <a:rPr b="0" lang="en-US" sz="1800" spc="-1" strike="noStrike" u="sng">
                <a:solidFill>
                  <a:srgbClr val="ababab"/>
                </a:solidFill>
                <a:uFillTx/>
                <a:latin typeface="Century Gothic"/>
                <a:hlinkClick r:id="rId1"/>
              </a:rPr>
              <a:t>https://github.com/BishopFox/sliver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Goal is to teach the fundamentals that apply to multiple toolsets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If you are interested in this field, I recommend experimenting with multiple tools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Merlin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Metasploit/Meterpreter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Mythic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Covenant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Etc.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Lets Dive In!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Lab #3 – Credential Theft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 your initial beacon to find/steal credentials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What user do you want to target?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Why?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 your new credentials to enumerate files on a different machine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Lateral Movement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Windows Services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By default administrators of a machine are able to manage services remotely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Runs your callback as NT AUTHORITY/SYSTEM (YAY!)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`sc </a:t>
            </a:r>
            <a:r>
              <a:rPr b="0" lang="en-US" sz="1600" spc="-1" strike="noStrike" u="sng">
                <a:solidFill>
                  <a:srgbClr val="ababab"/>
                </a:solidFill>
                <a:uFillTx/>
                <a:latin typeface="Century Gothic"/>
                <a:hlinkClick r:id="rId1"/>
              </a:rPr>
              <a:t>\\TARGET</a:t>
            </a: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 SERVICENAME binPath=/path/to/binary`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Scheduled Tasks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Scheduled tasks can also be administered remotely by default!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`schtasks /create /s TARGET /tn TASKNAME /u USERNAME /sc FREQUENCY /p PASSWORD /st TIME /sd DATE COMMAND_TO_RUN`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WMIC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We can also laterally move with WMI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`wmic /node:TARGET.DOMAIN process call create “C:\Windows\System32\cmd.exe /c PAYLOAD.exe`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Lateral Movement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Other forms exist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DCOM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Exploitation 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Etc.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Will not cover here, but recommend that you dig in if you are interested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You will NOT need these for your challenge problem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Lateral Movement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All/most of these methods require you to upload your payload to your target BEFORE attempting to laterally move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You can `ls` to `//COMPUTER_NAME_OR_IP/SHARE_NAME/` and use the same path to upload your payload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Recommend sa-netshare to view what shares are available on your target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By default, windows has 3 shares 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c$ - Points to C:\ on your victim machine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admin$ - Points to C:\Windows\System32 on your victim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ipc$ - Used for inter-machine communication (less helpful for this)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You will need credentials of some kind (local admin is most helpful)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Remember, BE BLENDY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But Wait!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HTTPS is suspicious coming from servers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Users aren’t there to browse to social media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Servers normally behave much more predictably than user workstations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 need to stay blendy so we can achieve our objective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How can we do that when laterally moving?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Pivots/Internal C2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Allows agents to form a chain, with only the first hop talking HTTPs back to your teamserver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Takes many forms, there is a lot of opportunity for developer creativity here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Common options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SMB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TCP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Sliver Pivots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Two steps to set up internal comms with Sliver 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Start a pivot listener on the hop you want to pivot through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`pivots tcp --bind &lt;bind_address&gt; -lport &lt;listen port&gt;`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`pivots named-pipe --bind &lt;pipe_name&gt;`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Generate a payload that will talk to your new pivot listener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`generate --tcp-pivot &lt;ip&gt;:&lt;port&gt;`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`generate –named-pipe &lt;ip&gt;/pipe/&lt;pipe_name&gt;`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Double check everything matches!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Lab #4 – Laterally Move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 your stolen credentials to laterally move to the DC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Recommend you try multiple approaches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At the end of the day, having multiple options gives you flexibility as an operator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Varying how you move in the network makes it more difficult to follow you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Remember to perform recon on your new host when you arrive!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Now what?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35" name="Picture 6" descr=""/>
          <p:cNvPicPr/>
          <p:nvPr/>
        </p:nvPicPr>
        <p:blipFill>
          <a:blip r:embed="rId1"/>
          <a:stretch/>
        </p:blipFill>
        <p:spPr>
          <a:xfrm>
            <a:off x="2818080" y="3041640"/>
            <a:ext cx="5941080" cy="2655720"/>
          </a:xfrm>
          <a:prstGeom prst="rect">
            <a:avLst/>
          </a:prstGeom>
          <a:ln w="0">
            <a:noFill/>
          </a:ln>
        </p:spPr>
      </p:pic>
      <p:sp>
        <p:nvSpPr>
          <p:cNvPr id="136" name="TextBox 4"/>
          <p:cNvSpPr/>
          <p:nvPr/>
        </p:nvSpPr>
        <p:spPr>
          <a:xfrm>
            <a:off x="2818080" y="5697720"/>
            <a:ext cx="6127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entury Gothic"/>
              </a:rPr>
              <a:t>https://ptgmedia.pearsoncmg.com/images/chap1_9780135752036/elementLinks/F01XX01.jpg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7" name="Arrow: Down 5"/>
          <p:cNvSpPr/>
          <p:nvPr/>
        </p:nvSpPr>
        <p:spPr>
          <a:xfrm rot="16200000">
            <a:off x="4047840" y="4142520"/>
            <a:ext cx="371160" cy="618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31166"/>
          </a:solidFill>
          <a:ln cap="rnd">
            <a:solidFill>
              <a:srgbClr val="840c4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TextBox 6"/>
          <p:cNvSpPr/>
          <p:nvPr/>
        </p:nvSpPr>
        <p:spPr>
          <a:xfrm>
            <a:off x="2390040" y="4266000"/>
            <a:ext cx="1957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We are here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455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 have moved laterally, what now?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Rinse, Repeat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 have made it all the way through the cycle of the kill chain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Have we completed our objective yet? No.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Now we repeat the process of recon, credential compromise, lateral movement to make steps towards our objective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Domain Recon 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Dsquery/ldapsearch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Helpful for identifying machines and users of interest in the network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Can search for pretty much anything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Even has syntax to allow you to filter based on attributes, which is very helpful in large domains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Example: 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`sa-ldapsearch “&amp;(objectclass=User)(samAccountName=*admin*)”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Searches for users with “admin” in the name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Domain Recon – Things to look for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Users – ldapsearch can give you a BUNCH of information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Computers – Helpful to determine where to move to next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Groups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Domain Trusts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Domain Trusts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646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Exist to allow users in separate domains to use resources in another domain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Allows a domain to be segmented for ease of management and security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Multiple types of trust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Bidirectional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Users in both domains can be allowed to use resources in the other domain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Commonly seen in “child” domains (e.g. dev.calebshome.lab as a child of calebshome.lab)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One-way trust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Users in domain A can be allowed to use resources in domain B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Users in domain B have no ability to use resources in domain A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That means that as an attacker you can only move A-&gt;B. Not B-&gt;A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3619</TotalTime>
  <Application>LibreOffice/7.3.7.2$Linux_X86_64 LibreOffice_project/30$Build-2</Application>
  <AppVersion>15.0000</AppVersion>
  <Words>1084</Words>
  <Paragraphs>130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2022-04-27T17:03:52Z</dcterms:created>
  <dc:creator>Caleb Fleming (GOV)</dc:creator>
  <dc:description/>
  <dc:language>en-US</dc:language>
  <cp:lastModifiedBy/>
  <dcterms:modified xsi:type="dcterms:W3CDTF">2025-06-19T13:30:26Z</dcterms:modified>
  <cp:revision>2</cp:revision>
  <dc:subject/>
  <dc:title>Red Team Fundamentals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19</vt:i4>
  </property>
</Properties>
</file>